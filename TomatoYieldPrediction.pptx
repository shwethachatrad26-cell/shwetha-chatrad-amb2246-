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</c:v>
                </c:pt>
              </c:strCache>
            </c:strRef>
          </c:tx>
          <c:spPr>
            <a:solidFill>
              <a:srgbClr val="2D7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Train R²</c:v>
                  </c:pt>
                  <c:pt idx="1">
                    <c:v>Test R²</c:v>
                  </c:pt>
                  <c:pt idx="2">
                    <c:v>Train MAE</c:v>
                  </c:pt>
                  <c:pt idx="3">
                    <c:v>Test MAE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0.573</c:v>
                </c:pt>
                <c:pt idx="1">
                  <c:v>0.553</c:v>
                </c:pt>
                <c:pt idx="2">
                  <c:v>2.55</c:v>
                </c:pt>
                <c:pt idx="3">
                  <c:v>2.61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Train R²</c:v>
                  </c:pt>
                  <c:pt idx="1">
                    <c:v>Test R²</c:v>
                  </c:pt>
                  <c:pt idx="2">
                    <c:v>Train MAE</c:v>
                  </c:pt>
                  <c:pt idx="3">
                    <c:v>Test MAE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0.775</c:v>
                </c:pt>
                <c:pt idx="1">
                  <c:v>0.491</c:v>
                </c:pt>
                <c:pt idx="2">
                  <c:v>1.8</c:v>
                </c:pt>
                <c:pt idx="3">
                  <c:v>3.01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Yield</c:v>
                </c:pt>
              </c:strCache>
            </c:strRef>
          </c:tx>
          <c:spPr>
            <a:solidFill>
              <a:srgbClr val="F9A825"/>
            </a:solidFill>
            <a:ln w="31750" cap="flat">
              <a:solidFill>
                <a:srgbClr val="F9A82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A825"/>
              </a:solidFill>
              <a:ln w="9525" cap="flat">
                <a:solidFill>
                  <a:srgbClr val="F9A82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37</c:v>
                </c:pt>
                <c:pt idx="2">
                  <c:v>34.5</c:v>
                </c:pt>
                <c:pt idx="3">
                  <c:v>31</c:v>
                </c:pt>
                <c:pt idx="4">
                  <c:v>28</c:v>
                </c:pt>
                <c:pt idx="5">
                  <c:v>34</c:v>
                </c:pt>
                <c:pt idx="6">
                  <c:v>37.5</c:v>
                </c:pt>
                <c:pt idx="7">
                  <c:v>41</c:v>
                </c:pt>
                <c:pt idx="8">
                  <c:v>43</c:v>
                </c:pt>
                <c:pt idx="9">
                  <c:v>45</c:v>
                </c:pt>
                <c:pt idx="10">
                  <c:v>44</c:v>
                </c:pt>
                <c:pt idx="11">
                  <c:v>40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 Predicted</c:v>
                </c:pt>
              </c:strCache>
            </c:strRef>
          </c:tx>
          <c:spPr>
            <a:solidFill>
              <a:srgbClr val="4CAF78"/>
            </a:solidFill>
            <a:ln w="31750" cap="flat">
              <a:solidFill>
                <a:srgbClr val="4CAF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AF78"/>
              </a:solidFill>
              <a:ln w="9525" cap="flat">
                <a:solidFill>
                  <a:srgbClr val="4CAF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38.2</c:v>
                </c:pt>
                <c:pt idx="1">
                  <c:v>36.5</c:v>
                </c:pt>
                <c:pt idx="2">
                  <c:v>34.1</c:v>
                </c:pt>
                <c:pt idx="3">
                  <c:v>30.8</c:v>
                </c:pt>
                <c:pt idx="4">
                  <c:v>28.3</c:v>
                </c:pt>
                <c:pt idx="5">
                  <c:v>33.6</c:v>
                </c:pt>
                <c:pt idx="6">
                  <c:v>37.4</c:v>
                </c:pt>
                <c:pt idx="7">
                  <c:v>40.1</c:v>
                </c:pt>
                <c:pt idx="8">
                  <c:v>42.6</c:v>
                </c:pt>
                <c:pt idx="9">
                  <c:v>44.8</c:v>
                </c:pt>
                <c:pt idx="10">
                  <c:v>43.2</c:v>
                </c:pt>
                <c:pt idx="11">
                  <c:v>40.5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RF Predicted</c:v>
                </c:pt>
              </c:strCache>
            </c:strRef>
          </c:tx>
          <c:spPr>
            <a:solidFill>
              <a:srgbClr val="EF9A9A"/>
            </a:solidFill>
            <a:ln w="31750" cap="flat">
              <a:solidFill>
                <a:srgbClr val="EF9A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9A9A"/>
              </a:solidFill>
              <a:ln w="9525" cap="flat">
                <a:solidFill>
                  <a:srgbClr val="EF9A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37.8</c:v>
                </c:pt>
                <c:pt idx="1">
                  <c:v>36.1</c:v>
                </c:pt>
                <c:pt idx="2">
                  <c:v>33.8</c:v>
                </c:pt>
                <c:pt idx="3">
                  <c:v>30.2</c:v>
                </c:pt>
                <c:pt idx="4">
                  <c:v>27.9</c:v>
                </c:pt>
                <c:pt idx="5">
                  <c:v>34</c:v>
                </c:pt>
                <c:pt idx="6">
                  <c:v>37</c:v>
                </c:pt>
                <c:pt idx="7">
                  <c:v>40.5</c:v>
                </c:pt>
                <c:pt idx="8">
                  <c:v>42.9</c:v>
                </c:pt>
                <c:pt idx="9">
                  <c:v>45.1</c:v>
                </c:pt>
                <c:pt idx="10">
                  <c:v>43.8</c:v>
                </c:pt>
                <c:pt idx="11">
                  <c:v>41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25"/>
        </c:scaling>
        <c:delete val="0"/>
        <c:axPos val="l"/>
        <c:majorGridlines>
          <c:spPr>
            <a:ln w="6350" cap="flat">
              <a:solidFill>
                <a:srgbClr val="2D7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E3A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 (MDI)</c:v>
                </c:pt>
              </c:strCache>
            </c:strRef>
          </c:tx>
          <c:spPr>
            <a:solidFill>
              <a:srgbClr val="1A47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473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7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CAF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1C78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5D6B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E6C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F5E9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Nitrogen (N)</c:v>
                  </c:pt>
                  <c:pt idx="1">
                    <c:v>Rainfall</c:v>
                  </c:pt>
                  <c:pt idx="2">
                    <c:v>Potassium (K)</c:v>
                  </c:pt>
                  <c:pt idx="3">
                    <c:v>Humidity</c:v>
                  </c:pt>
                  <c:pt idx="4">
                    <c:v>Phosphorus (P)</c:v>
                  </c:pt>
                  <c:pt idx="5">
                    <c:v>Temperature</c:v>
                  </c:pt>
                  <c:pt idx="6">
                    <c:v>Soil pH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0.339</c:v>
                </c:pt>
                <c:pt idx="1">
                  <c:v>0.244</c:v>
                </c:pt>
                <c:pt idx="2">
                  <c:v>0.126</c:v>
                </c:pt>
                <c:pt idx="3">
                  <c:v>0.114</c:v>
                </c:pt>
                <c:pt idx="4">
                  <c:v>0.068</c:v>
                </c:pt>
                <c:pt idx="5">
                  <c:v>0.065</c:v>
                </c:pt>
                <c:pt idx="6">
                  <c:v>0.045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3749040" y="50292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🍅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Prediction of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7249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in Tomato Crop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310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D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Kolar District, Karnataka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858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&amp;  Linear 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Shwetha C (AMB 2246) &amp; Sarita (AMB 2224)  |  Guide: Dr. Kumar Raja  |  2025–2026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Agricultural Sciences, GKVK, Bangalore  |  EAI-421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" cy="34747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0241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 &amp; Motivation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384048" cy="34747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813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996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— Kolar District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56816"/>
            <a:ext cx="384048" cy="34747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5681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9751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384048" cy="34747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3230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4505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(Kaggle)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384048" cy="34747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0779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9260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384048" cy="34747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3832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4015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Methodology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858768"/>
            <a:ext cx="384048" cy="34747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858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8770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334256"/>
            <a:ext cx="384048" cy="347472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33425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3525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Linear Regression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005840"/>
            <a:ext cx="384048" cy="347472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00584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10241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Random Forest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1481328"/>
            <a:ext cx="384048" cy="347472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4813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14996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Yield Predictions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1956816"/>
            <a:ext cx="384048" cy="347472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95681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19751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2432304"/>
            <a:ext cx="384048" cy="347472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43230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24505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Comparison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2907792"/>
            <a:ext cx="384048" cy="347472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90779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29260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Key Insights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46320" y="3383280"/>
            <a:ext cx="384048" cy="347472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3832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34015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846320" y="3858768"/>
            <a:ext cx="384048" cy="347472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858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03520" y="38770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2560320" cy="118872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rank as global producer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fruits &amp; vegetables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118872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43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Horticulture share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agricultural GDP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560320" cy="118872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143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15L MT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3504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produced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annually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Kolar district (13.1°N, 78.1°E, 900m elevation) — semi-arid Deccan Plateau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(Solanum lycopersicum) is the most economically important crop in the district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variability due to erratic monsoons affects 40,000+ farming families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yield estimation is time-consuming, subjective &amp; geographically limited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can provide transformative, scalable yield prediction for farmers &amp; policymakers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— Kolar District, Karnataka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3840480" cy="7498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10789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8,223 km²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051560"/>
            <a:ext cx="3840480" cy="74980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0789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06440" y="10789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914 m ASL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3840480" cy="7498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97510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Rainfall: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9751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700–800 mm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947672"/>
            <a:ext cx="3840480" cy="74980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97510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Temperature: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197510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27.3°C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43784"/>
            <a:ext cx="3840480" cy="7498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8712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28712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BSh Hot Semi-Arid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2843784"/>
            <a:ext cx="3840480" cy="74980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28712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Type: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28712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Laterite (Alfisols)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39896"/>
            <a:ext cx="3840480" cy="74980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76732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pH Range: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76732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– 7.0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3739896"/>
            <a:ext cx="3840480" cy="74980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376732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Taluks: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376732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Kolar, Malur, Mulbagal, Srinivaspur, Bangarpet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321040" cy="27432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Karnataka's Kolar-Chikkaballapur belt contributes the bulk of Karnataka's tomato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8321040" cy="91440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ML algorithms — Linear Regression &amp; Random Forest — accurately predict tomato yield in Kolar district using agro-meteorological and soil nutrient parameters? Which model provides superior performance?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&amp; preprocess 300-observation Kaggle dataset with 7 agronomic variables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Linear Regression and Random Forest models using Python &amp; scikit-learn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using MAE, RMSE, R², and 5-fold cross-validation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most influential variables through feature importance analysis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complete system architecture (flowchart + use case diagrams)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deployable framework for real-time yield prediction in Kolar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Kaggle Source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1920240" cy="86868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86868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789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5361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86868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789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5361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051560"/>
            <a:ext cx="1920240" cy="86868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789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75120" y="15361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57400"/>
          <a:ext cx="8321040" cy="265176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22960"/>
                <a:gridCol w="822960"/>
                <a:gridCol w="822960"/>
              </a:tblGrid>
              <a:tr h="294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Temperature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°C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18.0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36.0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27.3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Rainfall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mm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180.0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92.4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Humidity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40.0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90.0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65.2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Soil pH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5.50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7.50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6.48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Nitrogen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kg/ha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80.0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200.0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140.1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Phosphorus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kg/ha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30.0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90.0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60.2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Potassium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kg/ha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100.0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250.0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175.6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Yield (Target)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ton/ha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50.0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40.7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8321040" cy="658368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475488" cy="475488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0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Check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isnull().sum() — Zero missing values confirmed in all 300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8321040" cy="658368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47672"/>
            <a:ext cx="475488" cy="475488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476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19202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194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boxplot analysis — No outliers detected (controlled generation)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8321040" cy="658368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24912"/>
            <a:ext cx="475488" cy="475488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24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69748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971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z-score normalisation: x̃ = (x − μ) / σ on training data only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8321040" cy="658368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02152"/>
            <a:ext cx="475488" cy="475488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02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4747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749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(240 obs) / 20% test (60 obs) — random_state = 42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321040" cy="658368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279392"/>
            <a:ext cx="475488" cy="475488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793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425196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Correlation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5262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correlation: N↔Yield r=0.48, Rainfall r=0.32, K r=0.29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5D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Generation Formula: Y = −0.5×|T−25| + 0.03×R + 0.1×H − 2.0×|pH−6.5| + 0.05×N + 0.04×P + 0.03×K + ε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for continuous targets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weights w via OLS: w* = (XᵀX)⁻¹Xᵀy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Minimises ||Xw + b − y||²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with StandardScaler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fast (&lt;1 second)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 coefficients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linear relationships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4023360" cy="41148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decision tree regressors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aggregation (bagging) + random feature subsets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ŷ_RF = (1/B) × Σ hᵦ(x) — average of 200 trees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without increasing bias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MDI-based feature importance scores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nonlinear interactions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processing: n_jobs = −1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901184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trained with scikit-learn 1.4, Python 3.12, seed = 42 (reproducibility)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1554480" cy="12801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obs, 7 features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5544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A825"/>
                </a:solidFill>
              </a:rPr>
              <a:t>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1188720"/>
            <a:ext cx="1554480" cy="12801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23444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split,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A825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49040" y="1188720"/>
            <a:ext cx="1554480" cy="12801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23444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RF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seed=42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15544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A825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0" y="1188720"/>
            <a:ext cx="1554480" cy="12801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23444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CV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15544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A825"/>
                </a:solidFill>
              </a:rPr>
              <a:t>▶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23760" y="1188720"/>
            <a:ext cx="1554480" cy="128016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23444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DSS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8321040" cy="50292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154680"/>
            <a:ext cx="2011680" cy="50292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154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31821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CSV stored in relational DB with versioning support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776472"/>
            <a:ext cx="8321040" cy="50292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776472"/>
            <a:ext cx="2011680" cy="50292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7764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68880" y="38039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Python/scikit-learn pipeline — scaling, inference, evaluation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398264"/>
            <a:ext cx="8321040" cy="50292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4398264"/>
            <a:ext cx="2011680" cy="50292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39826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68880" y="442569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Web/mobile interface — RESTful JSON API, &lt;200ms response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Linear Regression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920240" cy="100584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24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20240" cy="100584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24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353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2.61 t/ha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1737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920240" cy="100584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24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353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3.24 t/ha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1737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097280"/>
            <a:ext cx="1920240" cy="100584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124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353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1737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286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Coefficients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24328"/>
          <a:ext cx="5029200" cy="233172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2011680"/>
              </a:tblGrid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Coefficient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Nitrogen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+2.2971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5E20"/>
                          </a:solidFill>
                        </a:rPr>
                        <a:t>↑ Strongest positive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Rainfall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+1.7903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5E20"/>
                          </a:solidFill>
                        </a:rPr>
                        <a:t>↑ Positive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Potassium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+1.1995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5E20"/>
                          </a:solidFill>
                        </a:rPr>
                        <a:t>↑ Positive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Humidity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+1.1707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5E20"/>
                          </a:solidFill>
                        </a:rPr>
                        <a:t>↑ Positive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Phosphorus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+0.8434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5E20"/>
                          </a:solidFill>
                        </a:rPr>
                        <a:t>↑ Moderate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Temperature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−0.6202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↓ Heat stress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Soil pH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−0.0519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↓ Minor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577840" y="2286000"/>
            <a:ext cx="3017520" cy="26517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2286000"/>
            <a:ext cx="3017520" cy="384048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24" name="Text 21"/>
          <p:cNvSpPr/>
          <p:nvPr/>
        </p:nvSpPr>
        <p:spPr>
          <a:xfrm>
            <a:off x="5577840" y="22860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69280" y="274320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overfitting: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= 0.573 vs Test R² = 0.553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(gap only 0.020)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explains 55.3% of yield variance — strong for a 7-variable field dataset.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is the strongest predictor.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Random Forest Regressor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920240" cy="1005840"/>
          </a:xfrm>
          <a:prstGeom prst="rect">
            <a:avLst/>
          </a:prstGeom>
          <a:solidFill>
            <a:srgbClr val="B71C1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24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(Train)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overfitting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20240" cy="100584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24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353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1737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920240" cy="100584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24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(Test)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353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3.01 t/ha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1737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097280"/>
            <a:ext cx="1920240" cy="100584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124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353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1737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286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Performance — Overfitting Analysis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633472"/>
          <a:ext cx="83210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Yield Predictions — Seasonal Patterns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CAF7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321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4348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Peak yield in Oct (44.8–45.1 ton/ha)  |  Lowest in May (27.9–28.3 ton/ha) — heat stress  |  Both models track seasonal pattern accurately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— Random Forest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2D7A4F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029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23560" y="10515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23560" y="1417320"/>
            <a:ext cx="3017520" cy="713232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15000" y="14447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46520" y="1444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yield-limiting nutrient in Kolar laterite soils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23560" y="2240280"/>
            <a:ext cx="3017520" cy="713232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15000" y="22677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46520" y="22677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water source for rainfed tomato cultivation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23560" y="3063240"/>
            <a:ext cx="3017520" cy="713232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15000" y="3090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6520" y="30906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15000" y="3383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fruit quality, sizing &amp; post-harvest shelf life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23560" y="3886200"/>
            <a:ext cx="3017520" cy="713232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715000" y="39136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46520" y="3913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71.8%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1500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features explain nearly 3/4 of total predictive power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8321040" cy="502920"/>
          </a:xfrm>
          <a:prstGeom prst="rect">
            <a:avLst/>
          </a:prstGeom>
          <a:solidFill>
            <a:srgbClr val="4CAF7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LINEAR REGRESSION IS THE RECOMMENDED MODEL FOR THIS 300-OBSERVATION DATASET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32104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201168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Linear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Winner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MAE (ton/ha)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2.61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3.01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✅ LR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RMSE (ton/ha)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3.24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3.46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✅ LR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Test R²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0.553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0.491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✅ LR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CV R² (5-fold)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0.506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0.416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✅ LR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Overfit Gap (R²)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0.020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0.284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✅ LR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Training 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&lt;1 sec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~3 sec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✅ LR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Interpretability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</a:rPr>
                        <a:t>✅ LR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5D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wins because: dataset is small (n=300) and yield formula is additive-linear → simpler models generalise better (Occam's Razor)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 — Real-World Scenario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Parameters (Near-Optimal Rabi Conditions)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28600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447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4447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 °C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417320"/>
            <a:ext cx="2286000" cy="420624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14447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60520" y="14447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 mm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228600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476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19476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1920240"/>
            <a:ext cx="2286000" cy="420624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19476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pH: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19476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228600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505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24505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kg/ha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34640" y="2423160"/>
            <a:ext cx="2286000" cy="420624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245059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60520" y="24505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kg/ha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228600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9535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91640" y="29535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kg/ha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77840" y="1417320"/>
            <a:ext cx="3200400" cy="1188720"/>
          </a:xfrm>
          <a:prstGeom prst="rect">
            <a:avLst/>
          </a:prstGeom>
          <a:solidFill>
            <a:srgbClr val="1A473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7784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41.35 ton/ha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5577840" y="2788920"/>
            <a:ext cx="3200400" cy="118872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7784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3108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41.63 ton/ha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365760" y="4434840"/>
            <a:ext cx="8321040" cy="5029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46227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Both predictions fall within the expected 38–46 ton/ha range for well-managed drip-irrigated Rabi tomato in Kolar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Key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8321040" cy="64008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148840" cy="64008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LR &gt; RF?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133856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(n=300) is small; yield formula is additive-linear → LR's assumptions match data structure. RF needs &gt;1000 obs to outperform LR.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8321040" cy="64008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65376"/>
            <a:ext cx="2148840" cy="64008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65376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Dominance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901952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= 0.34. Over 65% of Kolar tomato fields have low-to-medium N. Targeted split-application fertigation = highest-priority intervention.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8321040" cy="64008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33472"/>
            <a:ext cx="2148840" cy="64008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334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Alignment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670048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correctly capture Rabi (Oct–Feb) &gt; Kharif (Jun–Sep) yield pattern, matching district field records.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8321040" cy="64008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401568"/>
            <a:ext cx="2148840" cy="64008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01568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Rankings ↔ Agronomy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3438144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 Rainfall &gt; K &gt; Humidity &gt; P &gt; Temperature &gt; pH is fully consistent with ICAR recommendations for Karnataka tomato.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69664"/>
            <a:ext cx="8321040" cy="64008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69664"/>
            <a:ext cx="2148840" cy="640080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69664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R² is Expected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420624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variables (variety, pest pressure, irrigation schedule, soil micronutrients) introduce σ=3 ton/ha unexplained variance.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Study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8321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3385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40817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 calibrated to realistic ranges but does not capture true spatial heterogeneity across Kolar's 5 taluks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8321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56232"/>
            <a:ext cx="45720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5623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8928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Biotic Factors: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16712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incidence (Tuta absoluta, whitefly), disease pressure (early/late blight) significantly affect marketable yield but are unmodelled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8321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15184"/>
            <a:ext cx="45720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61518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Dynamics: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9260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treated as independent — temporal autocorrelation in weather patterns &amp; sequential soil nutrient dynamics not modelled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321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74136"/>
            <a:ext cx="45720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37413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410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Algorithms: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68503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algorithms evaluated; XGBoost, SVM, LSTM, and deep learning architectures not benchmarked in this study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3210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33088"/>
            <a:ext cx="45720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13308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1696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Spatial Unit: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4439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district-level model may not capture taluk-level variation in soils, irrigation infrastructure, and agro-ecology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114300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2471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/ Landsat-8 NDVI &amp; EVI for spatially continuous yield maps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097280"/>
            <a:ext cx="4023360" cy="114300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12471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4924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463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SVR, LSTM neural networks on expanded dataset (&gt;1000 obs)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023360" cy="114300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45059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468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Deployment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889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app with real-time KSNDMC weather data + soil nutrient advisory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4023360" cy="114300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245059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2468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7889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for farmer-interpretable prediction explanations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023360" cy="114300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77647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794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Scenarios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114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CMIP6 projections for long-term yield planning under climate change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749040"/>
            <a:ext cx="4023360" cy="1143000"/>
          </a:xfrm>
          <a:prstGeom prst="rect">
            <a:avLst/>
          </a:prstGeom>
          <a:solidFill>
            <a:srgbClr val="2D7A4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377647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49240" y="3794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4114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sensor data for soil moisture, temperature, and nutrient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outperformed Random Forest (R²=0.553 vs 0.491; MAE=2.61 vs 3.01 t/ha) on 300-obs Kaggle dataset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is the #1 yield determinant (RF importance=0.34; LR coeff=+2.30)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generate agronomically plausible predictions validated against district records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confirms LR stability (CV R²=0.506) — results generalise beyond single split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architecture is proof-of-concept for precision agriculture in Kolar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93192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399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Collect real data: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16367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farm field programme across Kolar's 5 taluks within 2–3 seasons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2057400"/>
            <a:ext cx="3931920" cy="56692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20848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predictors: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3225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Variety, irrigation, pest scores, solar radiation — target R² &gt; 0.75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393192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7706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Advanced ML: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30083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XGBoost, LightGBM, SVR on expanded 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3429000"/>
            <a:ext cx="3931920" cy="566928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4564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Taluk models: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36941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Sub-models for each taluk to capture local variation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4114800"/>
            <a:ext cx="393192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41422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app: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43799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with KSNDMC real-time weather feed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yield prediction can reliably assist precision agriculture workflows in Kolar's tomato belt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2743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🍅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5D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Prediction of Yield in Tomato Crop — Kolar District, Karnataka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834640"/>
            <a:ext cx="4572000" cy="36576"/>
          </a:xfrm>
          <a:prstGeom prst="rect">
            <a:avLst/>
          </a:prstGeom>
          <a:solidFill>
            <a:srgbClr val="4CAF78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0440" y="30175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Shwetha C (AMB 2246)  &amp;  Sarita (AMB 2224)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4015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340156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Kumar Raja, Professor — REVA University, Bangalore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37856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378561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EAI-421 | Application of AI &amp; ML in Agriculture | 2025–2026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416966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416966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Agricultural Sciences, GKVK, Bangalore – 560065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Prediction of Yield in Tomato Crop</dc:title>
  <dc:subject>PptxGenJS Presentation</dc:subject>
  <dc:creator>PptxGenJS</dc:creator>
  <cp:lastModifiedBy>PptxGenJS</cp:lastModifiedBy>
  <cp:revision>1</cp:revision>
  <dcterms:created xsi:type="dcterms:W3CDTF">2026-04-15T18:52:08Z</dcterms:created>
  <dcterms:modified xsi:type="dcterms:W3CDTF">2026-04-15T18:52:08Z</dcterms:modified>
</cp:coreProperties>
</file>